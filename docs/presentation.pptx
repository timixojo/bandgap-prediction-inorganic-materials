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jo Timileyin Abraham" userId="0b084ff2a0bda88c" providerId="LiveId" clId="{2BABA80B-D48E-46FE-B0BF-30D907CA2AC7}"/>
    <pc:docChg chg="modSld">
      <pc:chgData name="Ojo Timileyin Abraham" userId="0b084ff2a0bda88c" providerId="LiveId" clId="{2BABA80B-D48E-46FE-B0BF-30D907CA2AC7}" dt="2025-05-22T16:17:10.880" v="92" actId="255"/>
      <pc:docMkLst>
        <pc:docMk/>
      </pc:docMkLst>
      <pc:sldChg chg="modSp mod">
        <pc:chgData name="Ojo Timileyin Abraham" userId="0b084ff2a0bda88c" providerId="LiveId" clId="{2BABA80B-D48E-46FE-B0BF-30D907CA2AC7}" dt="2025-05-22T16:17:10.880" v="92" actId="255"/>
        <pc:sldMkLst>
          <pc:docMk/>
          <pc:sldMk cId="0" sldId="256"/>
        </pc:sldMkLst>
        <pc:spChg chg="mod">
          <ac:chgData name="Ojo Timileyin Abraham" userId="0b084ff2a0bda88c" providerId="LiveId" clId="{2BABA80B-D48E-46FE-B0BF-30D907CA2AC7}" dt="2025-05-22T16:17:04.883" v="91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Ojo Timileyin Abraham" userId="0b084ff2a0bda88c" providerId="LiveId" clId="{2BABA80B-D48E-46FE-B0BF-30D907CA2AC7}" dt="2025-05-22T16:17:10.880" v="92" actId="255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solidFill>
                  <a:srgbClr val="1F4E78"/>
                </a:solidFill>
                <a:latin typeface="Calibri"/>
              </a:rPr>
              <a:t>Using Supervised Machine Learning to Predict the Bandgap energy of Inorganic Material</a:t>
            </a:r>
            <a:endParaRPr sz="2400" b="1" dirty="0">
              <a:solidFill>
                <a:srgbClr val="1F4E78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400" b="1" dirty="0">
                <a:solidFill>
                  <a:srgbClr val="1F4E78"/>
                </a:solidFill>
                <a:latin typeface="Calibri"/>
              </a:rPr>
              <a:t>Timileyin Ojo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ID: 2426478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MRes Artificial Intelligence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Prof Celestine </a:t>
            </a:r>
            <a:r>
              <a:rPr sz="2400" b="1" dirty="0" err="1">
                <a:solidFill>
                  <a:srgbClr val="1F4E78"/>
                </a:solidFill>
                <a:latin typeface="Calibri"/>
              </a:rPr>
              <a:t>Iwendi</a:t>
            </a:r>
            <a:br>
              <a:rPr sz="2400" dirty="0"/>
            </a:br>
            <a:r>
              <a:rPr lang="en-GB" sz="2400" b="1" dirty="0">
                <a:solidFill>
                  <a:srgbClr val="1F4E78"/>
                </a:solidFill>
                <a:latin typeface="Calibri"/>
              </a:rPr>
              <a:t>13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-05-2025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400" b="1" dirty="0">
                <a:solidFill>
                  <a:srgbClr val="1F4E78"/>
                </a:solidFill>
                <a:latin typeface="Calibri"/>
              </a:rPr>
              <a:t>Bandgap energy decides how materials behave in electronics. Traditional methods like 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Density Functional Theory (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DFT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)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 are too slow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 and expensive, especially for large datasets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. M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achine learning (M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L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)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 offers fast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 and 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accurate predictions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(Zeb et al., 2024; Varley, 2021)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.</a:t>
            </a:r>
            <a:endParaRPr sz="2400" b="1" dirty="0">
              <a:solidFill>
                <a:srgbClr val="1F4E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>
              <a:buNone/>
              <a:defRPr sz="2000"/>
            </a:pPr>
            <a:r>
              <a:rPr sz="2400" b="1" dirty="0">
                <a:solidFill>
                  <a:srgbClr val="1F4E78"/>
                </a:solidFill>
                <a:latin typeface="Calibri"/>
              </a:rPr>
              <a:t>Aim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Build M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achine learning</a:t>
            </a:r>
            <a:r>
              <a:rPr sz="2200" b="1" dirty="0">
                <a:solidFill>
                  <a:srgbClr val="1F4E78"/>
                </a:solidFill>
                <a:latin typeface="Calibri"/>
              </a:rPr>
              <a:t> models that predict 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bandgap energy of </a:t>
            </a:r>
            <a:r>
              <a:rPr sz="2200" b="1" dirty="0">
                <a:solidFill>
                  <a:srgbClr val="1F4E78"/>
                </a:solidFill>
                <a:latin typeface="Calibri"/>
              </a:rPr>
              <a:t>inorganic 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material based on their structural and compositional features.</a:t>
            </a:r>
          </a:p>
          <a:p>
            <a:pPr>
              <a:defRPr sz="2000"/>
            </a:pPr>
            <a:endParaRPr lang="en-GB" sz="22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400" b="1" dirty="0">
                <a:solidFill>
                  <a:srgbClr val="1F4E78"/>
                </a:solidFill>
                <a:latin typeface="Calibri"/>
              </a:rPr>
              <a:t>Objectives</a:t>
            </a:r>
            <a:endParaRPr sz="2400" b="1" dirty="0">
              <a:solidFill>
                <a:srgbClr val="1F4E78"/>
              </a:solidFill>
              <a:latin typeface="Calibri"/>
            </a:endParaRPr>
          </a:p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Compile 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a </a:t>
            </a:r>
            <a:r>
              <a:rPr sz="2200" b="1" dirty="0">
                <a:solidFill>
                  <a:srgbClr val="1F4E78"/>
                </a:solidFill>
                <a:latin typeface="Calibri"/>
              </a:rPr>
              <a:t>dataset of known bandgaps</a:t>
            </a:r>
          </a:p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Select features (formation energy, volume, etc.)</a:t>
            </a:r>
          </a:p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Train models: DT, RF, SVR, </a:t>
            </a:r>
            <a:r>
              <a:rPr sz="2200" b="1" dirty="0" err="1">
                <a:solidFill>
                  <a:srgbClr val="1F4E78"/>
                </a:solidFill>
                <a:latin typeface="Calibri"/>
              </a:rPr>
              <a:t>XGBoost</a:t>
            </a:r>
            <a:endParaRPr sz="2200" b="1" dirty="0">
              <a:solidFill>
                <a:srgbClr val="1F4E78"/>
              </a:solidFill>
              <a:latin typeface="Calibri"/>
            </a:endParaRPr>
          </a:p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Evaluate performance (MAE, RMSE, R²)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Research Question &amp;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How can ML accurately predict bandgap from </a:t>
            </a:r>
            <a:r>
              <a:rPr sz="2200" b="1" dirty="0" err="1">
                <a:solidFill>
                  <a:srgbClr val="1F4E78"/>
                </a:solidFill>
                <a:latin typeface="Calibri"/>
              </a:rPr>
              <a:t>structur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al and compositional features?</a:t>
            </a:r>
            <a:br>
              <a:rPr dirty="0"/>
            </a:br>
            <a:br>
              <a:rPr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Significance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400" dirty="0">
                <a:solidFill>
                  <a:srgbClr val="1F4E78"/>
                </a:solidFill>
                <a:latin typeface="Calibri"/>
              </a:rPr>
              <a:t>Using machine learning can lead to;</a:t>
            </a:r>
          </a:p>
          <a:p>
            <a:pPr marL="0" indent="0">
              <a:buNone/>
              <a:defRPr sz="2000"/>
            </a:pPr>
            <a:br>
              <a:rPr dirty="0"/>
            </a:br>
            <a:r>
              <a:rPr sz="2200" b="1" dirty="0">
                <a:solidFill>
                  <a:srgbClr val="1F4E78"/>
                </a:solidFill>
                <a:latin typeface="Calibri"/>
              </a:rPr>
              <a:t>- Eco-friendly </a:t>
            </a:r>
            <a:r>
              <a:rPr sz="2200" b="1" dirty="0" err="1">
                <a:solidFill>
                  <a:srgbClr val="1F4E78"/>
                </a:solidFill>
                <a:latin typeface="Calibri"/>
              </a:rPr>
              <a:t>semiconduct</a:t>
            </a:r>
            <a:r>
              <a:rPr lang="en-GB" sz="2200" b="1" dirty="0" err="1">
                <a:solidFill>
                  <a:srgbClr val="1F4E78"/>
                </a:solidFill>
                <a:latin typeface="Calibri"/>
              </a:rPr>
              <a:t>ors</a:t>
            </a:r>
            <a:endParaRPr lang="en-GB" sz="22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dirty="0"/>
            </a:br>
            <a:r>
              <a:rPr sz="2200" b="1" dirty="0">
                <a:solidFill>
                  <a:srgbClr val="1F4E78"/>
                </a:solidFill>
                <a:latin typeface="Calibri"/>
              </a:rPr>
              <a:t>- Faster material discovery</a:t>
            </a:r>
            <a:r>
              <a:rPr lang="en-GB" sz="2200" b="1" dirty="0">
                <a:solidFill>
                  <a:srgbClr val="1F4E78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1F4E78"/>
                </a:solidFill>
                <a:latin typeface="Calibri"/>
              </a:rPr>
              <a:t>(Weng et al., 2016; Deng et al., 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>
                <a:solidFill>
                  <a:srgbClr val="1F4E78"/>
                </a:solidFill>
                <a:latin typeface="Calibri"/>
              </a:rPr>
              <a:t>Literature Review - SEND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560"/>
            <a:ext cx="8229600" cy="5074603"/>
          </a:xfrm>
        </p:spPr>
        <p:txBody>
          <a:bodyPr>
            <a:noAutofit/>
          </a:bodyPr>
          <a:lstStyle/>
          <a:p>
            <a:endParaRPr sz="2000" dirty="0"/>
          </a:p>
          <a:p>
            <a:pPr>
              <a:defRPr sz="2000"/>
            </a:pPr>
            <a:r>
              <a:rPr sz="2000" b="1" dirty="0">
                <a:solidFill>
                  <a:srgbClr val="1F4E78"/>
                </a:solidFill>
                <a:latin typeface="Calibri"/>
              </a:rPr>
              <a:t>S - Similar: Zeb et al. (2024) used Random Forest, </a:t>
            </a:r>
            <a:r>
              <a:rPr sz="2000" b="1" dirty="0" err="1">
                <a:solidFill>
                  <a:srgbClr val="1F4E78"/>
                </a:solidFill>
                <a:latin typeface="Calibri"/>
              </a:rPr>
              <a:t>XGBoost</a:t>
            </a:r>
            <a:r>
              <a:rPr lang="en-GB" sz="2000" b="1" dirty="0">
                <a:solidFill>
                  <a:srgbClr val="1F4E78"/>
                </a:solidFill>
                <a:latin typeface="Calibri"/>
              </a:rPr>
              <a:t>.</a:t>
            </a:r>
          </a:p>
          <a:p>
            <a:pPr>
              <a:defRPr sz="2000"/>
            </a:pPr>
            <a:endParaRPr sz="2000" b="1" dirty="0">
              <a:solidFill>
                <a:srgbClr val="1F4E78"/>
              </a:solidFill>
              <a:latin typeface="Calibri"/>
            </a:endParaRPr>
          </a:p>
          <a:p>
            <a:pPr>
              <a:defRPr sz="2000"/>
            </a:pPr>
            <a:r>
              <a:rPr sz="2000" b="1" dirty="0">
                <a:solidFill>
                  <a:srgbClr val="1F4E78"/>
                </a:solidFill>
                <a:latin typeface="Calibri"/>
              </a:rPr>
              <a:t>E - Exceptional: Park et al. (2020) added deformation features</a:t>
            </a:r>
            <a:r>
              <a:rPr lang="en-GB" sz="2000" b="1" dirty="0">
                <a:solidFill>
                  <a:srgbClr val="1F4E78"/>
                </a:solidFill>
                <a:latin typeface="Calibri"/>
              </a:rPr>
              <a:t> like how the material bends or changes shape. They added more dynamic, real-world details that affect how a material behaves under stress.</a:t>
            </a:r>
          </a:p>
          <a:p>
            <a:pPr>
              <a:defRPr sz="2000"/>
            </a:pPr>
            <a:endParaRPr sz="2000" b="1" dirty="0">
              <a:solidFill>
                <a:srgbClr val="1F4E78"/>
              </a:solidFill>
              <a:latin typeface="Calibri"/>
            </a:endParaRPr>
          </a:p>
          <a:p>
            <a:pPr>
              <a:defRPr sz="2000"/>
            </a:pPr>
            <a:r>
              <a:rPr sz="2000" b="1" dirty="0">
                <a:solidFill>
                  <a:srgbClr val="1F4E78"/>
                </a:solidFill>
                <a:latin typeface="Calibri"/>
              </a:rPr>
              <a:t>N - Novel: Nguyen et al. (2023) used data augmentation</a:t>
            </a:r>
            <a:r>
              <a:rPr lang="en-GB" sz="2000" b="1" dirty="0">
                <a:solidFill>
                  <a:srgbClr val="1F4E78"/>
                </a:solidFill>
                <a:latin typeface="Calibri"/>
              </a:rPr>
              <a:t>, most machine learning studies in materials science use fixed, raw datasets. They adjusted the anion sites (a type of atom placement), which helped the model learn better and generalise more.</a:t>
            </a:r>
          </a:p>
          <a:p>
            <a:pPr>
              <a:defRPr sz="2000"/>
            </a:pPr>
            <a:endParaRPr sz="2000" b="1" dirty="0">
              <a:solidFill>
                <a:srgbClr val="1F4E78"/>
              </a:solidFill>
              <a:latin typeface="Calibri"/>
            </a:endParaRPr>
          </a:p>
          <a:p>
            <a:pPr>
              <a:defRPr sz="2000"/>
            </a:pPr>
            <a:r>
              <a:rPr sz="2000" b="1" dirty="0">
                <a:solidFill>
                  <a:srgbClr val="1F4E78"/>
                </a:solidFill>
                <a:latin typeface="Calibri"/>
              </a:rPr>
              <a:t>D - Different: de Oliveira Neto et al. (2025) used </a:t>
            </a:r>
            <a:r>
              <a:rPr sz="2000" b="1" dirty="0" err="1">
                <a:solidFill>
                  <a:srgbClr val="1F4E78"/>
                </a:solidFill>
                <a:latin typeface="Calibri"/>
              </a:rPr>
              <a:t>Tutton</a:t>
            </a:r>
            <a:r>
              <a:rPr sz="2000" b="1" dirty="0">
                <a:solidFill>
                  <a:srgbClr val="1F4E78"/>
                </a:solidFill>
                <a:latin typeface="Calibri"/>
              </a:rPr>
              <a:t> salts</a:t>
            </a:r>
            <a:r>
              <a:rPr lang="en-GB" sz="2000" b="1" dirty="0">
                <a:solidFill>
                  <a:srgbClr val="1F4E78"/>
                </a:solidFill>
                <a:latin typeface="Calibri"/>
              </a:rPr>
              <a:t>, while others focus on predicting bandgaps using machine learning; they explored how specific crystal structures affect bandgap in real-world applications without machine learning.</a:t>
            </a:r>
            <a:endParaRPr sz="2000" b="1" dirty="0">
              <a:solidFill>
                <a:srgbClr val="1F4E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Methodology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400" b="1" dirty="0">
                <a:solidFill>
                  <a:srgbClr val="1F4E78"/>
                </a:solidFill>
                <a:latin typeface="Calibri"/>
              </a:rPr>
              <a:t>Design: Quantitative, exploratory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.</a:t>
            </a: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Dataset: 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ABX₃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Inorganic perovskite 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compounds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.</a:t>
            </a: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Features: Formation energy, density, volume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, etc.</a:t>
            </a: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Target: Bandgap (eV)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Models: DT, RF, SVR, </a:t>
            </a:r>
            <a:r>
              <a:rPr sz="2400" b="1" dirty="0" err="1">
                <a:solidFill>
                  <a:srgbClr val="1F4E78"/>
                </a:solidFill>
                <a:latin typeface="Calibri"/>
              </a:rPr>
              <a:t>XGBoost</a:t>
            </a:r>
            <a:endParaRPr sz="2400" b="1" dirty="0">
              <a:solidFill>
                <a:srgbClr val="1F4E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Model Training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GB" sz="2400" b="1" dirty="0">
                <a:solidFill>
                  <a:srgbClr val="1F4E78"/>
                </a:solidFill>
                <a:latin typeface="Calibri"/>
              </a:rPr>
              <a:t>Data 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Split: 70% train / 30% test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Tools: Google </a:t>
            </a:r>
            <a:r>
              <a:rPr sz="2400" b="1" dirty="0" err="1">
                <a:solidFill>
                  <a:srgbClr val="1F4E78"/>
                </a:solidFill>
                <a:latin typeface="Calibri"/>
              </a:rPr>
              <a:t>Colab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, Python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Validation: 5-fold on RF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Metrics: MAE, MSE, RMSE, R²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Results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400" b="1" dirty="0">
                <a:solidFill>
                  <a:srgbClr val="1F4E78"/>
                </a:solidFill>
                <a:latin typeface="Calibri"/>
              </a:rPr>
              <a:t>Best: Random Forest (R² = 0.643)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Next: </a:t>
            </a:r>
            <a:r>
              <a:rPr sz="2400" b="1" dirty="0" err="1">
                <a:solidFill>
                  <a:srgbClr val="1F4E78"/>
                </a:solidFill>
                <a:latin typeface="Calibri"/>
              </a:rPr>
              <a:t>XGBoost</a:t>
            </a:r>
            <a:r>
              <a:rPr sz="2400" b="1" dirty="0">
                <a:solidFill>
                  <a:srgbClr val="1F4E78"/>
                </a:solidFill>
                <a:latin typeface="Calibri"/>
              </a:rPr>
              <a:t> (R² = 0.624)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DT = 0.299, SVR = 0.008</a:t>
            </a:r>
            <a:endParaRPr lang="en-GB" sz="24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br>
              <a:rPr sz="2400" dirty="0"/>
            </a:br>
            <a:r>
              <a:rPr sz="2400" b="1" dirty="0">
                <a:solidFill>
                  <a:srgbClr val="1F4E78"/>
                </a:solidFill>
                <a:latin typeface="Calibri"/>
              </a:rPr>
              <a:t>Top features: formation energy, volume, density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Discussion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200" b="1" dirty="0">
                <a:solidFill>
                  <a:srgbClr val="1F4E78"/>
                </a:solidFill>
                <a:latin typeface="Calibri"/>
              </a:rPr>
              <a:t>- RF and </a:t>
            </a:r>
            <a:r>
              <a:rPr sz="2200" b="1" dirty="0" err="1">
                <a:solidFill>
                  <a:srgbClr val="1F4E78"/>
                </a:solidFill>
                <a:latin typeface="Calibri"/>
              </a:rPr>
              <a:t>XGBoost</a:t>
            </a:r>
            <a:r>
              <a:rPr sz="2200" b="1" dirty="0">
                <a:solidFill>
                  <a:srgbClr val="1F4E78"/>
                </a:solidFill>
                <a:latin typeface="Calibri"/>
              </a:rPr>
              <a:t> outperformed others</a:t>
            </a:r>
            <a:br>
              <a:rPr dirty="0"/>
            </a:br>
            <a:r>
              <a:rPr sz="2200" b="1" dirty="0">
                <a:solidFill>
                  <a:srgbClr val="1F4E78"/>
                </a:solidFill>
                <a:latin typeface="Calibri"/>
              </a:rPr>
              <a:t>- Data lacks temp/pressure info</a:t>
            </a:r>
            <a:br>
              <a:rPr dirty="0"/>
            </a:br>
            <a:r>
              <a:rPr sz="2200" b="1" dirty="0">
                <a:solidFill>
                  <a:srgbClr val="1F4E78"/>
                </a:solidFill>
                <a:latin typeface="Calibri"/>
              </a:rPr>
              <a:t>- SVR struggled with </a:t>
            </a:r>
            <a:r>
              <a:rPr sz="2200" b="1" dirty="0" err="1">
                <a:solidFill>
                  <a:srgbClr val="1F4E78"/>
                </a:solidFill>
                <a:latin typeface="Calibri"/>
              </a:rPr>
              <a:t>generalisation</a:t>
            </a:r>
            <a:br>
              <a:rPr dirty="0"/>
            </a:br>
            <a:r>
              <a:rPr sz="2200" b="1" dirty="0">
                <a:solidFill>
                  <a:srgbClr val="1F4E78"/>
                </a:solidFill>
                <a:latin typeface="Calibri"/>
              </a:rPr>
              <a:t>(Shen et al., 2023; Park et al., 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Conclusion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200" b="1">
                <a:solidFill>
                  <a:srgbClr val="1F4E78"/>
                </a:solidFill>
                <a:latin typeface="Calibri"/>
              </a:rPr>
              <a:t>- RF most reliable</a:t>
            </a:r>
            <a:br/>
            <a:r>
              <a:rPr sz="2200" b="1">
                <a:solidFill>
                  <a:srgbClr val="1F4E78"/>
                </a:solidFill>
                <a:latin typeface="Calibri"/>
              </a:rPr>
              <a:t>- Add environmental factors</a:t>
            </a:r>
            <a:br/>
            <a:r>
              <a:rPr sz="2200" b="1">
                <a:solidFill>
                  <a:srgbClr val="1F4E78"/>
                </a:solidFill>
                <a:latin typeface="Calibri"/>
              </a:rPr>
              <a:t>- Test with hybrid datasets</a:t>
            </a:r>
            <a:br/>
            <a:r>
              <a:rPr sz="2200" b="1">
                <a:solidFill>
                  <a:srgbClr val="1F4E78"/>
                </a:solidFill>
                <a:latin typeface="Calibri"/>
              </a:rPr>
              <a:t>- Tune SVR settings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Acknowledgements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000"/>
            </a:pPr>
            <a:r>
              <a:rPr sz="3600" b="1" dirty="0">
                <a:solidFill>
                  <a:srgbClr val="1F4E78"/>
                </a:solidFill>
                <a:latin typeface="Calibri"/>
              </a:rPr>
              <a:t>Thanks to Prof Celestine </a:t>
            </a:r>
            <a:r>
              <a:rPr sz="3600" b="1" dirty="0" err="1">
                <a:solidFill>
                  <a:srgbClr val="1F4E78"/>
                </a:solidFill>
                <a:latin typeface="Calibri"/>
              </a:rPr>
              <a:t>Iwendi</a:t>
            </a:r>
            <a:r>
              <a:rPr sz="3600" b="1" dirty="0">
                <a:solidFill>
                  <a:srgbClr val="1F4E78"/>
                </a:solidFill>
                <a:latin typeface="Calibri"/>
              </a:rPr>
              <a:t> &amp; University of Bolton</a:t>
            </a:r>
            <a:br>
              <a:rPr sz="2400" dirty="0"/>
            </a:br>
            <a:endParaRPr lang="en-GB" sz="4500" dirty="0"/>
          </a:p>
          <a:p>
            <a:pPr marL="0" indent="0">
              <a:buNone/>
              <a:defRPr sz="2000"/>
            </a:pPr>
            <a:r>
              <a:rPr sz="4500" b="1" dirty="0">
                <a:solidFill>
                  <a:srgbClr val="1F4E78"/>
                </a:solidFill>
                <a:latin typeface="Calibri"/>
              </a:rPr>
              <a:t>References</a:t>
            </a:r>
            <a:endParaRPr lang="en-GB" sz="45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600" b="1" dirty="0">
                <a:solidFill>
                  <a:srgbClr val="1F4E78"/>
                </a:solidFill>
                <a:latin typeface="Calibri"/>
              </a:rPr>
              <a:t>Zeb, M.H. et al. (2024) Machine learning‐enhanced prediction of inorganic semiconductor bandgaps for advancing optoelectronic technologies. Advanced Theory and Simulations, 7(7), pp. n/a.</a:t>
            </a:r>
          </a:p>
          <a:p>
            <a:pPr marL="0" indent="0">
              <a:buNone/>
              <a:defRPr sz="2000"/>
            </a:pPr>
            <a:endParaRPr lang="en-GB" sz="26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600" b="1" dirty="0">
                <a:solidFill>
                  <a:srgbClr val="1F4E78"/>
                </a:solidFill>
                <a:latin typeface="Calibri"/>
              </a:rPr>
              <a:t>Varley, J.B. (2021) First-principles calculations of structural, electrical, and optical properties of ultra-wide bandgap (</a:t>
            </a:r>
            <a:r>
              <a:rPr lang="en-GB" sz="2600" b="1" dirty="0" err="1">
                <a:solidFill>
                  <a:srgbClr val="1F4E78"/>
                </a:solidFill>
                <a:latin typeface="Calibri"/>
              </a:rPr>
              <a:t>AlₓGa</a:t>
            </a:r>
            <a:r>
              <a:rPr lang="en-GB" sz="2600" b="1" dirty="0">
                <a:solidFill>
                  <a:srgbClr val="1F4E78"/>
                </a:solidFill>
                <a:latin typeface="Calibri"/>
              </a:rPr>
              <a:t>₁₋ₓ)₂O₃ alloys. Journal of Materials Research, 36(23), pp. 4790–4803.</a:t>
            </a:r>
          </a:p>
          <a:p>
            <a:pPr marL="0" indent="0">
              <a:buNone/>
              <a:defRPr sz="2000"/>
            </a:pPr>
            <a:endParaRPr lang="en-GB" sz="26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600" b="1" dirty="0">
                <a:solidFill>
                  <a:srgbClr val="1F4E78"/>
                </a:solidFill>
                <a:latin typeface="Calibri"/>
              </a:rPr>
              <a:t>Stanley, J.C., Mayr, F. and Gagliardi, A. (2020) Machine learning stability and bandgaps of lead‐free perovskites for photovoltaics. Advanced Theory and Simulations, 3(1), pp. n/a.</a:t>
            </a:r>
          </a:p>
          <a:p>
            <a:pPr marL="0" indent="0">
              <a:buNone/>
              <a:defRPr sz="2000"/>
            </a:pPr>
            <a:endParaRPr lang="en-GB" sz="26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600" b="1" dirty="0">
                <a:solidFill>
                  <a:srgbClr val="1F4E78"/>
                </a:solidFill>
                <a:latin typeface="Calibri"/>
              </a:rPr>
              <a:t>Shen, Y. et al. (2023) Machine learning‐assisted discovery of 2D perovskites with tailored bandgap for solar cells. Advanced Theory and Simulations, 6(6), pp. n/a.</a:t>
            </a:r>
          </a:p>
          <a:p>
            <a:pPr marL="0" indent="0">
              <a:buNone/>
              <a:defRPr sz="2000"/>
            </a:pPr>
            <a:endParaRPr lang="en-GB" sz="2600" b="1" dirty="0">
              <a:solidFill>
                <a:srgbClr val="1F4E78"/>
              </a:solidFill>
              <a:latin typeface="Calibri"/>
            </a:endParaRPr>
          </a:p>
          <a:p>
            <a:pPr marL="0" indent="0">
              <a:buNone/>
              <a:defRPr sz="2000"/>
            </a:pPr>
            <a:r>
              <a:rPr lang="en-GB" sz="2600" b="1" dirty="0">
                <a:solidFill>
                  <a:srgbClr val="1F4E78"/>
                </a:solidFill>
                <a:latin typeface="Calibri"/>
              </a:rPr>
              <a:t>Nguyen, T. et al. (2023) Exploring data augmentation and dimension reduction opportunities for predicting the bandgap of inorganic perovskite through anion site optimization. Photonics, 10(11), pp. </a:t>
            </a:r>
            <a:r>
              <a:rPr lang="en-GB" sz="2400" b="1" dirty="0">
                <a:solidFill>
                  <a:srgbClr val="1F4E78"/>
                </a:solidFill>
                <a:latin typeface="Calibri"/>
              </a:rPr>
              <a:t>1232.</a:t>
            </a:r>
          </a:p>
          <a:p>
            <a:pPr marL="0" indent="0">
              <a:buNone/>
              <a:defRPr sz="2000"/>
            </a:pPr>
            <a:endParaRPr lang="en-GB" sz="2400" b="1" dirty="0">
              <a:solidFill>
                <a:srgbClr val="1F4E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200" b="1">
                <a:solidFill>
                  <a:srgbClr val="1F4E78"/>
                </a:solidFill>
                <a:latin typeface="Calibri"/>
              </a:rPr>
              <a:t>Thank you for listening.</a:t>
            </a:r>
            <a:br/>
            <a:r>
              <a:rPr sz="2200" b="1">
                <a:solidFill>
                  <a:srgbClr val="1F4E78"/>
                </a:solidFill>
                <a:latin typeface="Calibri"/>
              </a:rPr>
              <a:t>Any questions or suggestions?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Model Performance: R² Scores</a:t>
            </a:r>
          </a:p>
        </p:txBody>
      </p:sp>
      <p:pic>
        <p:nvPicPr>
          <p:cNvPr id="3" name="Picture 2" descr="r2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Predicted vs Actual: Random Forest</a:t>
            </a:r>
          </a:p>
        </p:txBody>
      </p:sp>
      <p:pic>
        <p:nvPicPr>
          <p:cNvPr id="3" name="Picture 2" descr="r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Predicted vs Actual: XGBoost</a:t>
            </a:r>
          </a:p>
        </p:txBody>
      </p:sp>
      <p:pic>
        <p:nvPicPr>
          <p:cNvPr id="3" name="Picture 2" descr="xgb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Feature Importance: Random Forest</a:t>
            </a:r>
          </a:p>
        </p:txBody>
      </p:sp>
      <p:pic>
        <p:nvPicPr>
          <p:cNvPr id="3" name="Picture 2" descr="rf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F4E78"/>
                </a:solidFill>
                <a:latin typeface="Calibri"/>
              </a:rPr>
              <a:t>Feature Importance: XGBoost</a:t>
            </a:r>
          </a:p>
        </p:txBody>
      </p:sp>
      <p:pic>
        <p:nvPicPr>
          <p:cNvPr id="3" name="Picture 2" descr="xgb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780</Words>
  <Application>Microsoft Office PowerPoint</Application>
  <PresentationFormat>On-screen Show (4:3)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Using Supervised Machine Learning to Predict the Bandgap energy of Inorganic Material</vt:lpstr>
      <vt:lpstr>Introduction</vt:lpstr>
      <vt:lpstr>Aim and Objectives</vt:lpstr>
      <vt:lpstr>Research Question &amp; Significance</vt:lpstr>
      <vt:lpstr>Literature Review - SEND Method</vt:lpstr>
      <vt:lpstr>Methodology - Overview</vt:lpstr>
      <vt:lpstr>Model Training &amp; Tools</vt:lpstr>
      <vt:lpstr>Results Overview</vt:lpstr>
      <vt:lpstr>Discussion and Insights</vt:lpstr>
      <vt:lpstr>Conclusion and Recommendations</vt:lpstr>
      <vt:lpstr>Acknowledgements &amp; References</vt:lpstr>
      <vt:lpstr>Questions</vt:lpstr>
      <vt:lpstr>Model Performance: R² Scores</vt:lpstr>
      <vt:lpstr>Predicted vs Actual: Random Forest</vt:lpstr>
      <vt:lpstr>Predicted vs Actual: XGBoost</vt:lpstr>
      <vt:lpstr>Feature Importance: Random Forest</vt:lpstr>
      <vt:lpstr>Feature Importance: XGBoost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Bandgap Energy of Inorganic Materials Using Machine Learning</dc:title>
  <dc:subject/>
  <dc:creator>Ojo Timileyin Abraham</dc:creator>
  <cp:keywords/>
  <dc:description>generated using python-pptx</dc:description>
  <cp:lastModifiedBy>Ojo Timileyin Abraham</cp:lastModifiedBy>
  <cp:revision>2</cp:revision>
  <dcterms:created xsi:type="dcterms:W3CDTF">2013-01-27T09:14:16Z</dcterms:created>
  <dcterms:modified xsi:type="dcterms:W3CDTF">2025-05-22T16:17:14Z</dcterms:modified>
  <cp:category/>
</cp:coreProperties>
</file>